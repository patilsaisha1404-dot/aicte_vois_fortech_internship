
<file path=[Content_Types].xml><?xml version="1.0" encoding="utf-8"?>
<Types xmlns="http://schemas.openxmlformats.org/package/2006/content-types">
  <Default Extension="jfif" ContentType="image/jpeg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7" r:id="rId4"/>
  </p:sldMasterIdLst>
  <p:notesMasterIdLst>
    <p:notesMasterId r:id="rId20"/>
  </p:notesMasterIdLst>
  <p:handoutMasterIdLst>
    <p:handoutMasterId r:id="rId21"/>
  </p:handoutMasterIdLst>
  <p:sldIdLst>
    <p:sldId id="338" r:id="rId5"/>
    <p:sldId id="327" r:id="rId6"/>
    <p:sldId id="315" r:id="rId7"/>
    <p:sldId id="329" r:id="rId8"/>
    <p:sldId id="302" r:id="rId9"/>
    <p:sldId id="339" r:id="rId10"/>
    <p:sldId id="340" r:id="rId11"/>
    <p:sldId id="344" r:id="rId12"/>
    <p:sldId id="345" r:id="rId13"/>
    <p:sldId id="346" r:id="rId14"/>
    <p:sldId id="347" r:id="rId15"/>
    <p:sldId id="341" r:id="rId16"/>
    <p:sldId id="342" r:id="rId17"/>
    <p:sldId id="343" r:id="rId18"/>
    <p:sldId id="304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68" userDrawn="1">
          <p15:clr>
            <a:srgbClr val="A4A3A4"/>
          </p15:clr>
        </p15:guide>
        <p15:guide id="2" pos="408" userDrawn="1">
          <p15:clr>
            <a:srgbClr val="A4A3A4"/>
          </p15:clr>
        </p15:guide>
        <p15:guide id="3" orient="horz" pos="3912" userDrawn="1">
          <p15:clr>
            <a:srgbClr val="A4A3A4"/>
          </p15:clr>
        </p15:guide>
        <p15:guide id="4" pos="7272" userDrawn="1">
          <p15:clr>
            <a:srgbClr val="A4A3A4"/>
          </p15:clr>
        </p15:guide>
        <p15:guide id="5" orient="horz" pos="165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E25E649-3F16-4E02-A733-19D2CDBF48F0}"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85" autoAdjust="0"/>
    <p:restoredTop sz="93447" autoAdjust="0"/>
  </p:normalViewPr>
  <p:slideViewPr>
    <p:cSldViewPr snapToGrid="0">
      <p:cViewPr varScale="1">
        <p:scale>
          <a:sx n="63" d="100"/>
          <a:sy n="63" d="100"/>
        </p:scale>
        <p:origin x="724" y="56"/>
      </p:cViewPr>
      <p:guideLst>
        <p:guide orient="horz" pos="1968"/>
        <p:guide pos="408"/>
        <p:guide orient="horz" pos="3912"/>
        <p:guide pos="7272"/>
        <p:guide orient="horz" pos="1656"/>
      </p:guideLst>
    </p:cSldViewPr>
  </p:slideViewPr>
  <p:outlineViewPr>
    <p:cViewPr>
      <p:scale>
        <a:sx n="33" d="100"/>
        <a:sy n="33" d="100"/>
      </p:scale>
      <p:origin x="0" y="-488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0" d="100"/>
        <a:sy n="110" d="100"/>
      </p:scale>
      <p:origin x="0" y="-965"/>
    </p:cViewPr>
  </p:sorterViewPr>
  <p:notesViewPr>
    <p:cSldViewPr snapToGrid="0">
      <p:cViewPr varScale="1">
        <p:scale>
          <a:sx n="60" d="100"/>
          <a:sy n="60" d="100"/>
        </p:scale>
        <p:origin x="3187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isha Patil" userId="09bce65bf3426098" providerId="LiveId" clId="{0DFB74CB-AADA-4B3D-98E2-08D06CD72EFF}"/>
    <pc:docChg chg="modSld">
      <pc:chgData name="Saisha Patil" userId="09bce65bf3426098" providerId="LiveId" clId="{0DFB74CB-AADA-4B3D-98E2-08D06CD72EFF}" dt="2026-09-11T11:05:18.849" v="0"/>
      <pc:docMkLst>
        <pc:docMk/>
      </pc:docMkLst>
      <pc:sldChg chg="modSp">
        <pc:chgData name="Saisha Patil" userId="09bce65bf3426098" providerId="LiveId" clId="{0DFB74CB-AADA-4B3D-98E2-08D06CD72EFF}" dt="2026-09-11T11:05:18.849" v="0"/>
        <pc:sldMkLst>
          <pc:docMk/>
          <pc:sldMk cId="3863610428" sldId="342"/>
        </pc:sldMkLst>
        <pc:spChg chg="mod">
          <ac:chgData name="Saisha Patil" userId="09bce65bf3426098" providerId="LiveId" clId="{0DFB74CB-AADA-4B3D-98E2-08D06CD72EFF}" dt="2026-09-11T11:05:18.849" v="0"/>
          <ac:spMkLst>
            <pc:docMk/>
            <pc:sldMk cId="3863610428" sldId="342"/>
            <ac:spMk id="3" creationId="{5F160167-36E9-3D47-D2C9-DF697E077FA5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9/11/2026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9EC30E-1A71-4188-9BE7-E2A64929A436}" type="datetimeFigureOut">
              <a:rPr lang="en-US" noProof="0" smtClean="0"/>
              <a:t>9/11/2026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30193B-564F-4854-8A52-728F3FB19C8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0381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30193B-564F-4854-8A52-728F3FB19C85}" type="slidenum">
              <a:rPr lang="en-US" noProof="0" smtClean="0"/>
              <a:t>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079122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02203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052846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7669602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smtClean="0"/>
              <a:t>9/11/2026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7459935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23909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965439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9/11/2026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6897335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  <a:t>9/11/2026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620618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9/11/2026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30451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10971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22563127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8478255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26250616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3561930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smtClean="0"/>
              <a:t>9/11/2026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7920135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619384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FDA3C6F-5F6A-4D64-8BFE-AFFF58B1A04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12871" y="4141999"/>
            <a:ext cx="4220845" cy="8614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>
                <a:solidFill>
                  <a:schemeClr val="accent4"/>
                </a:solidFill>
                <a:latin typeface="+mj-lt"/>
              </a:defRPr>
            </a:lvl1pPr>
            <a:lvl2pPr>
              <a:buNone/>
              <a:defRPr sz="20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Hexagon 14">
            <a:extLst>
              <a:ext uri="{FF2B5EF4-FFF2-40B4-BE49-F238E27FC236}">
                <a16:creationId xmlns:a16="http://schemas.microsoft.com/office/drawing/2014/main" id="{AC159667-7690-4645-986D-BE501438455F}"/>
              </a:ext>
            </a:extLst>
          </p:cNvPr>
          <p:cNvSpPr/>
          <p:nvPr userDrawn="1"/>
        </p:nvSpPr>
        <p:spPr>
          <a:xfrm>
            <a:off x="740309" y="1382809"/>
            <a:ext cx="1229566" cy="1059971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Hexagon 15">
            <a:extLst>
              <a:ext uri="{FF2B5EF4-FFF2-40B4-BE49-F238E27FC236}">
                <a16:creationId xmlns:a16="http://schemas.microsoft.com/office/drawing/2014/main" id="{54667EE4-E77F-453B-BF8B-B1EE2AE80715}"/>
              </a:ext>
            </a:extLst>
          </p:cNvPr>
          <p:cNvSpPr/>
          <p:nvPr userDrawn="1"/>
        </p:nvSpPr>
        <p:spPr>
          <a:xfrm>
            <a:off x="3755031" y="1194620"/>
            <a:ext cx="1666162" cy="1436347"/>
          </a:xfrm>
          <a:prstGeom prst="hexag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FC050232-A229-425F-BFC8-D50374F2D171}"/>
              </a:ext>
            </a:extLst>
          </p:cNvPr>
          <p:cNvSpPr/>
          <p:nvPr userDrawn="1"/>
        </p:nvSpPr>
        <p:spPr>
          <a:xfrm>
            <a:off x="3804994" y="5233183"/>
            <a:ext cx="718261" cy="619191"/>
          </a:xfrm>
          <a:prstGeom prst="hexagon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Hexagon 17">
            <a:extLst>
              <a:ext uri="{FF2B5EF4-FFF2-40B4-BE49-F238E27FC236}">
                <a16:creationId xmlns:a16="http://schemas.microsoft.com/office/drawing/2014/main" id="{53E4EBC7-340A-43A5-9E23-4B73A6F700B6}"/>
              </a:ext>
            </a:extLst>
          </p:cNvPr>
          <p:cNvSpPr/>
          <p:nvPr userDrawn="1"/>
        </p:nvSpPr>
        <p:spPr>
          <a:xfrm>
            <a:off x="1837838" y="1101306"/>
            <a:ext cx="651613" cy="561736"/>
          </a:xfrm>
          <a:prstGeom prst="hexagon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1ED0E31A-F0A3-481D-8D9C-E3C4531FD2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71515" y="1914044"/>
            <a:ext cx="3993624" cy="3617848"/>
          </a:xfrm>
          <a:custGeom>
            <a:avLst/>
            <a:gdLst>
              <a:gd name="connsiteX0" fmla="*/ 1223161 w 3993624"/>
              <a:gd name="connsiteY0" fmla="*/ 2354088 h 3617848"/>
              <a:gd name="connsiteX1" fmla="*/ 2057242 w 3993624"/>
              <a:gd name="connsiteY1" fmla="*/ 2354088 h 3617848"/>
              <a:gd name="connsiteX2" fmla="*/ 2373182 w 3993624"/>
              <a:gd name="connsiteY2" fmla="*/ 2985968 h 3617848"/>
              <a:gd name="connsiteX3" fmla="*/ 2057242 w 3993624"/>
              <a:gd name="connsiteY3" fmla="*/ 3617848 h 3617848"/>
              <a:gd name="connsiteX4" fmla="*/ 1223161 w 3993624"/>
              <a:gd name="connsiteY4" fmla="*/ 3617848 h 3617848"/>
              <a:gd name="connsiteX5" fmla="*/ 907221 w 3993624"/>
              <a:gd name="connsiteY5" fmla="*/ 2985968 h 3617848"/>
              <a:gd name="connsiteX6" fmla="*/ 2569631 w 3993624"/>
              <a:gd name="connsiteY6" fmla="*/ 1425984 h 3617848"/>
              <a:gd name="connsiteX7" fmla="*/ 3602417 w 3993624"/>
              <a:gd name="connsiteY7" fmla="*/ 1425984 h 3617848"/>
              <a:gd name="connsiteX8" fmla="*/ 3993624 w 3993624"/>
              <a:gd name="connsiteY8" fmla="*/ 2208398 h 3617848"/>
              <a:gd name="connsiteX9" fmla="*/ 3602417 w 3993624"/>
              <a:gd name="connsiteY9" fmla="*/ 2990812 h 3617848"/>
              <a:gd name="connsiteX10" fmla="*/ 2569631 w 3993624"/>
              <a:gd name="connsiteY10" fmla="*/ 2990812 h 3617848"/>
              <a:gd name="connsiteX11" fmla="*/ 2178424 w 3993624"/>
              <a:gd name="connsiteY11" fmla="*/ 2208398 h 3617848"/>
              <a:gd name="connsiteX12" fmla="*/ 551406 w 3993624"/>
              <a:gd name="connsiteY12" fmla="*/ 0 h 3617848"/>
              <a:gd name="connsiteX13" fmla="*/ 2007117 w 3993624"/>
              <a:gd name="connsiteY13" fmla="*/ 0 h 3617848"/>
              <a:gd name="connsiteX14" fmla="*/ 2558523 w 3993624"/>
              <a:gd name="connsiteY14" fmla="*/ 1102811 h 3617848"/>
              <a:gd name="connsiteX15" fmla="*/ 2007117 w 3993624"/>
              <a:gd name="connsiteY15" fmla="*/ 2205622 h 3617848"/>
              <a:gd name="connsiteX16" fmla="*/ 551406 w 3993624"/>
              <a:gd name="connsiteY16" fmla="*/ 2205622 h 3617848"/>
              <a:gd name="connsiteX17" fmla="*/ 0 w 3993624"/>
              <a:gd name="connsiteY17" fmla="*/ 1102811 h 3617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93624" h="3617848">
                <a:moveTo>
                  <a:pt x="1223161" y="2354088"/>
                </a:moveTo>
                <a:lnTo>
                  <a:pt x="2057242" y="2354088"/>
                </a:lnTo>
                <a:lnTo>
                  <a:pt x="2373182" y="2985968"/>
                </a:lnTo>
                <a:lnTo>
                  <a:pt x="2057242" y="3617848"/>
                </a:lnTo>
                <a:lnTo>
                  <a:pt x="1223161" y="3617848"/>
                </a:lnTo>
                <a:lnTo>
                  <a:pt x="907221" y="2985968"/>
                </a:lnTo>
                <a:close/>
                <a:moveTo>
                  <a:pt x="2569631" y="1425984"/>
                </a:moveTo>
                <a:lnTo>
                  <a:pt x="3602417" y="1425984"/>
                </a:lnTo>
                <a:lnTo>
                  <a:pt x="3993624" y="2208398"/>
                </a:lnTo>
                <a:lnTo>
                  <a:pt x="3602417" y="2990812"/>
                </a:lnTo>
                <a:lnTo>
                  <a:pt x="2569631" y="2990812"/>
                </a:lnTo>
                <a:lnTo>
                  <a:pt x="2178424" y="2208398"/>
                </a:lnTo>
                <a:close/>
                <a:moveTo>
                  <a:pt x="551406" y="0"/>
                </a:moveTo>
                <a:lnTo>
                  <a:pt x="2007117" y="0"/>
                </a:lnTo>
                <a:lnTo>
                  <a:pt x="2558523" y="1102811"/>
                </a:lnTo>
                <a:lnTo>
                  <a:pt x="2007117" y="2205622"/>
                </a:lnTo>
                <a:lnTo>
                  <a:pt x="551406" y="2205622"/>
                </a:lnTo>
                <a:lnTo>
                  <a:pt x="0" y="1102811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E68100-C56F-4515-A4FD-3F301797E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871" y="2050552"/>
            <a:ext cx="4998720" cy="1748983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091946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72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id="{24FAA9D0-7C9C-4043-9931-A15819ABB9B5}"/>
              </a:ext>
            </a:extLst>
          </p:cNvPr>
          <p:cNvSpPr/>
          <p:nvPr userDrawn="1"/>
        </p:nvSpPr>
        <p:spPr>
          <a:xfrm>
            <a:off x="7362825" y="443263"/>
            <a:ext cx="361950" cy="36195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232AB2D-843E-4B5F-8793-6A263DA356BB}"/>
              </a:ext>
            </a:extLst>
          </p:cNvPr>
          <p:cNvSpPr/>
          <p:nvPr userDrawn="1"/>
        </p:nvSpPr>
        <p:spPr>
          <a:xfrm>
            <a:off x="11007246" y="5605994"/>
            <a:ext cx="654227" cy="65422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A75A12B-C399-4072-BD69-D872D2C2AD1F}"/>
              </a:ext>
            </a:extLst>
          </p:cNvPr>
          <p:cNvSpPr/>
          <p:nvPr userDrawn="1"/>
        </p:nvSpPr>
        <p:spPr>
          <a:xfrm>
            <a:off x="10683791" y="6132439"/>
            <a:ext cx="251152" cy="25115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423AE48B-50E9-4BEA-B66A-B2D2B9CCFE9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733416" y="624239"/>
            <a:ext cx="5855754" cy="5631571"/>
          </a:xfrm>
          <a:custGeom>
            <a:avLst/>
            <a:gdLst>
              <a:gd name="connsiteX0" fmla="*/ 3433020 w 5855754"/>
              <a:gd name="connsiteY0" fmla="*/ 786103 h 5631571"/>
              <a:gd name="connsiteX1" fmla="*/ 5855754 w 5855754"/>
              <a:gd name="connsiteY1" fmla="*/ 3208837 h 5631571"/>
              <a:gd name="connsiteX2" fmla="*/ 3433020 w 5855754"/>
              <a:gd name="connsiteY2" fmla="*/ 5631571 h 5631571"/>
              <a:gd name="connsiteX3" fmla="*/ 1010286 w 5855754"/>
              <a:gd name="connsiteY3" fmla="*/ 3208837 h 5631571"/>
              <a:gd name="connsiteX4" fmla="*/ 3433020 w 5855754"/>
              <a:gd name="connsiteY4" fmla="*/ 786103 h 5631571"/>
              <a:gd name="connsiteX5" fmla="*/ 828675 w 5855754"/>
              <a:gd name="connsiteY5" fmla="*/ 0 h 5631571"/>
              <a:gd name="connsiteX6" fmla="*/ 1657350 w 5855754"/>
              <a:gd name="connsiteY6" fmla="*/ 828675 h 5631571"/>
              <a:gd name="connsiteX7" fmla="*/ 828675 w 5855754"/>
              <a:gd name="connsiteY7" fmla="*/ 1657350 h 5631571"/>
              <a:gd name="connsiteX8" fmla="*/ 0 w 5855754"/>
              <a:gd name="connsiteY8" fmla="*/ 828675 h 5631571"/>
              <a:gd name="connsiteX9" fmla="*/ 828675 w 5855754"/>
              <a:gd name="connsiteY9" fmla="*/ 0 h 5631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55754" h="5631571">
                <a:moveTo>
                  <a:pt x="3433020" y="786103"/>
                </a:moveTo>
                <a:cubicBezTo>
                  <a:pt x="4771059" y="786103"/>
                  <a:pt x="5855754" y="1870798"/>
                  <a:pt x="5855754" y="3208837"/>
                </a:cubicBezTo>
                <a:cubicBezTo>
                  <a:pt x="5855754" y="4546876"/>
                  <a:pt x="4771059" y="5631571"/>
                  <a:pt x="3433020" y="5631571"/>
                </a:cubicBezTo>
                <a:cubicBezTo>
                  <a:pt x="2094981" y="5631571"/>
                  <a:pt x="1010286" y="4546876"/>
                  <a:pt x="1010286" y="3208837"/>
                </a:cubicBezTo>
                <a:cubicBezTo>
                  <a:pt x="1010286" y="1870798"/>
                  <a:pt x="2094981" y="786103"/>
                  <a:pt x="3433020" y="786103"/>
                </a:cubicBezTo>
                <a:close/>
                <a:moveTo>
                  <a:pt x="828675" y="0"/>
                </a:moveTo>
                <a:cubicBezTo>
                  <a:pt x="1286340" y="0"/>
                  <a:pt x="1657350" y="371010"/>
                  <a:pt x="1657350" y="828675"/>
                </a:cubicBezTo>
                <a:cubicBezTo>
                  <a:pt x="1657350" y="1286340"/>
                  <a:pt x="1286340" y="1657350"/>
                  <a:pt x="828675" y="1657350"/>
                </a:cubicBezTo>
                <a:cubicBezTo>
                  <a:pt x="371010" y="1657350"/>
                  <a:pt x="0" y="1286340"/>
                  <a:pt x="0" y="828675"/>
                </a:cubicBezTo>
                <a:cubicBezTo>
                  <a:pt x="0" y="371010"/>
                  <a:pt x="371010" y="0"/>
                  <a:pt x="828675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282D3E62-6D1A-4E9D-BE54-2EED9BF429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EB8F0E5-B89F-48AD-87BD-534EA9463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39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4AA38E8C-A334-4183-8ABC-112B8517F4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80624A4-5116-4AAF-8C31-C25D1DB16FEC}"/>
              </a:ext>
            </a:extLst>
          </p:cNvPr>
          <p:cNvSpPr/>
          <p:nvPr userDrawn="1"/>
        </p:nvSpPr>
        <p:spPr>
          <a:xfrm>
            <a:off x="9354457" y="5363987"/>
            <a:ext cx="457200" cy="457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D07EC8A-6024-4DEA-9C4D-AE4228E17854}"/>
              </a:ext>
            </a:extLst>
          </p:cNvPr>
          <p:cNvSpPr/>
          <p:nvPr userDrawn="1"/>
        </p:nvSpPr>
        <p:spPr>
          <a:xfrm>
            <a:off x="6692791" y="1699889"/>
            <a:ext cx="319749" cy="31974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1C8FAEF-DF78-48CC-AEEF-F9B802055C05}"/>
              </a:ext>
            </a:extLst>
          </p:cNvPr>
          <p:cNvSpPr/>
          <p:nvPr userDrawn="1"/>
        </p:nvSpPr>
        <p:spPr>
          <a:xfrm>
            <a:off x="9354457" y="5897738"/>
            <a:ext cx="179977" cy="1799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66F72D6-AEEE-4CF3-8136-F6782F1E489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90227" y="786181"/>
            <a:ext cx="4441372" cy="5393036"/>
          </a:xfrm>
          <a:custGeom>
            <a:avLst/>
            <a:gdLst>
              <a:gd name="connsiteX0" fmla="*/ 0 w 4441372"/>
              <a:gd name="connsiteY0" fmla="*/ 3188969 h 5393036"/>
              <a:gd name="connsiteX1" fmla="*/ 2173516 w 4441372"/>
              <a:gd name="connsiteY1" fmla="*/ 3188969 h 5393036"/>
              <a:gd name="connsiteX2" fmla="*/ 2173516 w 4441372"/>
              <a:gd name="connsiteY2" fmla="*/ 5393036 h 5393036"/>
              <a:gd name="connsiteX3" fmla="*/ 0 w 4441372"/>
              <a:gd name="connsiteY3" fmla="*/ 5393036 h 5393036"/>
              <a:gd name="connsiteX4" fmla="*/ 2267856 w 4441372"/>
              <a:gd name="connsiteY4" fmla="*/ 2293018 h 5393036"/>
              <a:gd name="connsiteX5" fmla="*/ 4441372 w 4441372"/>
              <a:gd name="connsiteY5" fmla="*/ 2293018 h 5393036"/>
              <a:gd name="connsiteX6" fmla="*/ 4441372 w 4441372"/>
              <a:gd name="connsiteY6" fmla="*/ 4497085 h 5393036"/>
              <a:gd name="connsiteX7" fmla="*/ 2267856 w 4441372"/>
              <a:gd name="connsiteY7" fmla="*/ 4497085 h 5393036"/>
              <a:gd name="connsiteX8" fmla="*/ 0 w 4441372"/>
              <a:gd name="connsiteY8" fmla="*/ 906837 h 5393036"/>
              <a:gd name="connsiteX9" fmla="*/ 2173516 w 4441372"/>
              <a:gd name="connsiteY9" fmla="*/ 906837 h 5393036"/>
              <a:gd name="connsiteX10" fmla="*/ 2173516 w 4441372"/>
              <a:gd name="connsiteY10" fmla="*/ 3110904 h 5393036"/>
              <a:gd name="connsiteX11" fmla="*/ 0 w 4441372"/>
              <a:gd name="connsiteY11" fmla="*/ 3110904 h 5393036"/>
              <a:gd name="connsiteX12" fmla="*/ 2267856 w 4441372"/>
              <a:gd name="connsiteY12" fmla="*/ 0 h 5393036"/>
              <a:gd name="connsiteX13" fmla="*/ 4441372 w 4441372"/>
              <a:gd name="connsiteY13" fmla="*/ 0 h 5393036"/>
              <a:gd name="connsiteX14" fmla="*/ 4441372 w 4441372"/>
              <a:gd name="connsiteY14" fmla="*/ 2204067 h 5393036"/>
              <a:gd name="connsiteX15" fmla="*/ 2267856 w 4441372"/>
              <a:gd name="connsiteY15" fmla="*/ 2204067 h 5393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441372" h="5393036">
                <a:moveTo>
                  <a:pt x="0" y="3188969"/>
                </a:moveTo>
                <a:lnTo>
                  <a:pt x="2173516" y="3188969"/>
                </a:lnTo>
                <a:lnTo>
                  <a:pt x="2173516" y="5393036"/>
                </a:lnTo>
                <a:lnTo>
                  <a:pt x="0" y="5393036"/>
                </a:lnTo>
                <a:close/>
                <a:moveTo>
                  <a:pt x="2267856" y="2293018"/>
                </a:moveTo>
                <a:lnTo>
                  <a:pt x="4441372" y="2293018"/>
                </a:lnTo>
                <a:lnTo>
                  <a:pt x="4441372" y="4497085"/>
                </a:lnTo>
                <a:lnTo>
                  <a:pt x="2267856" y="4497085"/>
                </a:lnTo>
                <a:close/>
                <a:moveTo>
                  <a:pt x="0" y="906837"/>
                </a:moveTo>
                <a:lnTo>
                  <a:pt x="2173516" y="906837"/>
                </a:lnTo>
                <a:lnTo>
                  <a:pt x="2173516" y="3110904"/>
                </a:lnTo>
                <a:lnTo>
                  <a:pt x="0" y="3110904"/>
                </a:lnTo>
                <a:close/>
                <a:moveTo>
                  <a:pt x="2267856" y="0"/>
                </a:moveTo>
                <a:lnTo>
                  <a:pt x="4441372" y="0"/>
                </a:lnTo>
                <a:lnTo>
                  <a:pt x="4441372" y="2204067"/>
                </a:lnTo>
                <a:lnTo>
                  <a:pt x="2267856" y="2204067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9DADC7-BE21-4434-A6E4-BAF809005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12548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04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1416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CF421413-161E-4B36-B693-FB38DF14EDA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353508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B5D207AE-9C9C-410A-9F31-2402BAD6DDF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11592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Picture Placeholder 39">
            <a:extLst>
              <a:ext uri="{FF2B5EF4-FFF2-40B4-BE49-F238E27FC236}">
                <a16:creationId xmlns:a16="http://schemas.microsoft.com/office/drawing/2014/main" id="{DE3344FC-C4DE-481F-9C31-667EDD563C4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7602465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59094D7D-3613-49C1-BB58-A65B41A9738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84005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9FE87B7-32A4-4C7F-9AAF-37688E640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647700"/>
            <a:ext cx="11340000" cy="700114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4800" b="1">
                <a:solidFill>
                  <a:schemeClr val="tx1"/>
                </a:solidFill>
              </a:rPr>
              <a:t>Click to edit Master title style</a:t>
            </a:r>
            <a:endParaRPr lang="en-US" sz="4800" b="1" dirty="0">
              <a:solidFill>
                <a:schemeClr val="tx1"/>
              </a:solidFill>
            </a:endParaRPr>
          </a:p>
        </p:txBody>
      </p:sp>
      <p:sp>
        <p:nvSpPr>
          <p:cNvPr id="9" name="Hexagon 8">
            <a:extLst>
              <a:ext uri="{FF2B5EF4-FFF2-40B4-BE49-F238E27FC236}">
                <a16:creationId xmlns:a16="http://schemas.microsoft.com/office/drawing/2014/main" id="{476CA45F-A66A-4AD8-A004-10DB55A5D7B2}"/>
              </a:ext>
            </a:extLst>
          </p:cNvPr>
          <p:cNvSpPr/>
          <p:nvPr userDrawn="1"/>
        </p:nvSpPr>
        <p:spPr>
          <a:xfrm>
            <a:off x="546669" y="3467555"/>
            <a:ext cx="458268" cy="395059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Hexagon 9">
            <a:extLst>
              <a:ext uri="{FF2B5EF4-FFF2-40B4-BE49-F238E27FC236}">
                <a16:creationId xmlns:a16="http://schemas.microsoft.com/office/drawing/2014/main" id="{27A66A3D-2437-4015-9F5F-380C4D23D83C}"/>
              </a:ext>
            </a:extLst>
          </p:cNvPr>
          <p:cNvSpPr/>
          <p:nvPr userDrawn="1"/>
        </p:nvSpPr>
        <p:spPr>
          <a:xfrm>
            <a:off x="11113337" y="2394722"/>
            <a:ext cx="358391" cy="308958"/>
          </a:xfrm>
          <a:prstGeom prst="hexag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Hexagon 10">
            <a:extLst>
              <a:ext uri="{FF2B5EF4-FFF2-40B4-BE49-F238E27FC236}">
                <a16:creationId xmlns:a16="http://schemas.microsoft.com/office/drawing/2014/main" id="{FFB14F3B-E7EF-4546-8D74-71FFB45C77C0}"/>
              </a:ext>
            </a:extLst>
          </p:cNvPr>
          <p:cNvSpPr/>
          <p:nvPr userDrawn="1"/>
        </p:nvSpPr>
        <p:spPr>
          <a:xfrm>
            <a:off x="10882649" y="2202202"/>
            <a:ext cx="230688" cy="198869"/>
          </a:xfrm>
          <a:prstGeom prst="hexagon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591F943B-ED0D-49A1-844A-E23BA9A4871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6668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9AC6B9A8-053C-4828-B705-901C6018F3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6692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BBA6FD52-E179-41F8-AE78-9AF3D65F28B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89482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C49A82AB-D328-4DB0-841B-186884119E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78948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84E23D5D-9866-48F9-8E08-DD2DBE4C4E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32296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E671C9E6-A1A5-4EE5-8642-94AA7635DB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02920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:a16="http://schemas.microsoft.com/office/drawing/2014/main" id="{DF6BB5C9-B678-435A-830F-4C10EB1A95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275110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1861EC87-A9E2-4FC3-B8BC-06C520B8A17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27511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2">
            <a:extLst>
              <a:ext uri="{FF2B5EF4-FFF2-40B4-BE49-F238E27FC236}">
                <a16:creationId xmlns:a16="http://schemas.microsoft.com/office/drawing/2014/main" id="{FC3EDE91-631F-4947-94DC-557685FD23E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517923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2">
            <a:extLst>
              <a:ext uri="{FF2B5EF4-FFF2-40B4-BE49-F238E27FC236}">
                <a16:creationId xmlns:a16="http://schemas.microsoft.com/office/drawing/2014/main" id="{8FDDBEF4-1329-49DF-B043-D51B34F5EE3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1792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Picture Placeholder 36">
            <a:extLst>
              <a:ext uri="{FF2B5EF4-FFF2-40B4-BE49-F238E27FC236}">
                <a16:creationId xmlns:a16="http://schemas.microsoft.com/office/drawing/2014/main" id="{FBDB3FD3-4F52-4E28-B639-5F73070E47D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78337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58848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DFA57703-9E4A-48E0-A123-3A5EDC76475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Rectangle 1" descr="Tall office building looking up">
            <a:extLst>
              <a:ext uri="{FF2B5EF4-FFF2-40B4-BE49-F238E27FC236}">
                <a16:creationId xmlns:a16="http://schemas.microsoft.com/office/drawing/2014/main" id="{AF7FA146-2A75-4EA7-A9AD-EBCE6F17FB42}"/>
              </a:ext>
            </a:extLst>
          </p:cNvPr>
          <p:cNvSpPr/>
          <p:nvPr userDrawn="1"/>
        </p:nvSpPr>
        <p:spPr>
          <a:xfrm>
            <a:off x="3718560" y="1181123"/>
            <a:ext cx="4754880" cy="4495754"/>
          </a:xfrm>
          <a:prstGeom prst="rect">
            <a:avLst/>
          </a:prstGeom>
          <a:solidFill>
            <a:schemeClr val="accent5">
              <a:alpha val="40000"/>
            </a:schemeClr>
          </a:solidFill>
          <a:ln w="603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340C15AA-E296-48AE-857F-0589EEA69D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49139" y="4859469"/>
            <a:ext cx="3924934" cy="490538"/>
          </a:xfrm>
          <a:prstGeom prst="rect">
            <a:avLst/>
          </a:prstGeom>
        </p:spPr>
        <p:txBody>
          <a:bodyPr/>
          <a:lstStyle>
            <a:lvl1pPr algn="r">
              <a:buNone/>
              <a:defRPr lang="en-US" sz="2400" b="1" kern="1200" dirty="0" smtClean="0">
                <a:solidFill>
                  <a:schemeClr val="accent4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62BE5D7-9E35-49F8-A8E4-2093183A6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9139" y="1529685"/>
            <a:ext cx="3924934" cy="1695637"/>
          </a:xfrm>
          <a:prstGeom prst="rect">
            <a:avLst/>
          </a:prstGeom>
        </p:spPr>
        <p:txBody>
          <a:bodyPr/>
          <a:lstStyle>
            <a:lvl1pPr>
              <a:spcBef>
                <a:spcPts val="1000"/>
              </a:spcBef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39956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9/11/2026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2CD6B789-4B66-4BD0-9623-80E9542A65FE}"/>
              </a:ext>
            </a:extLst>
          </p:cNvPr>
          <p:cNvSpPr txBox="1">
            <a:spLocks/>
          </p:cNvSpPr>
          <p:nvPr userDrawn="1"/>
        </p:nvSpPr>
        <p:spPr>
          <a:xfrm>
            <a:off x="660396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7BD5F78-1C10-49D6-8616-C9F20406C112}" type="datetime1">
              <a:rPr lang="en-US" sz="1100" smtClean="0">
                <a:solidFill>
                  <a:schemeClr val="accent2"/>
                </a:solidFill>
              </a:rPr>
              <a:pPr/>
              <a:t>9/11/2026</a:t>
            </a:fld>
            <a:endParaRPr lang="en-US" sz="1100" dirty="0">
              <a:solidFill>
                <a:schemeClr val="accent2"/>
              </a:solidFill>
            </a:endParaRPr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A3BB5234-44A4-4506-BD19-5808475EBB7F}"/>
              </a:ext>
            </a:extLst>
          </p:cNvPr>
          <p:cNvSpPr txBox="1">
            <a:spLocks/>
          </p:cNvSpPr>
          <p:nvPr userDrawn="1"/>
        </p:nvSpPr>
        <p:spPr>
          <a:xfrm>
            <a:off x="1445526" y="6378906"/>
            <a:ext cx="41148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chemeClr val="accent2"/>
                </a:solidFill>
              </a:rPr>
              <a:t>Annual Review</a:t>
            </a:r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68D89618-7EE9-46BF-BEAC-45E6F98ACA1A}"/>
              </a:ext>
            </a:extLst>
          </p:cNvPr>
          <p:cNvSpPr txBox="1">
            <a:spLocks/>
          </p:cNvSpPr>
          <p:nvPr userDrawn="1"/>
        </p:nvSpPr>
        <p:spPr>
          <a:xfrm>
            <a:off x="8805338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2C18C1E5-FB55-42F5-BD6D-9CC153FCDBE6}" type="slidenum">
              <a:rPr lang="en-US" sz="1100" smtClean="0">
                <a:solidFill>
                  <a:schemeClr val="accent4"/>
                </a:solidFill>
              </a:rPr>
              <a:pPr algn="r"/>
              <a:t>‹#›</a:t>
            </a:fld>
            <a:endParaRPr lang="en-US" sz="11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4259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50" r:id="rId3"/>
    <p:sldLayoutId id="2147483751" r:id="rId4"/>
    <p:sldLayoutId id="2147483752" r:id="rId5"/>
    <p:sldLayoutId id="2147483753" r:id="rId6"/>
    <p:sldLayoutId id="2147483754" r:id="rId7"/>
    <p:sldLayoutId id="2147483755" r:id="rId8"/>
    <p:sldLayoutId id="2147483756" r:id="rId9"/>
    <p:sldLayoutId id="2147483757" r:id="rId10"/>
    <p:sldLayoutId id="2147483758" r:id="rId11"/>
    <p:sldLayoutId id="2147483759" r:id="rId12"/>
    <p:sldLayoutId id="2147483760" r:id="rId13"/>
    <p:sldLayoutId id="2147483761" r:id="rId14"/>
    <p:sldLayoutId id="2147483762" r:id="rId15"/>
    <p:sldLayoutId id="2147483763" r:id="rId16"/>
    <p:sldLayoutId id="2147483764" r:id="rId17"/>
    <p:sldLayoutId id="2147483765" r:id="rId18"/>
    <p:sldLayoutId id="2147483766" r:id="rId19"/>
    <p:sldLayoutId id="2147483769" r:id="rId20"/>
    <p:sldLayoutId id="2147483690" r:id="rId21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fi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2056599-CDAA-4367-BEF8-31D6E3251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364" y="2844750"/>
            <a:ext cx="9562916" cy="743448"/>
          </a:xfrm>
        </p:spPr>
        <p:txBody>
          <a:bodyPr>
            <a:normAutofit fontScale="90000"/>
          </a:bodyPr>
          <a:lstStyle/>
          <a:p>
            <a:r>
              <a:rPr lang="en-GB" sz="3200" dirty="0"/>
              <a:t>Project Title – Seasonal Agriculture Performance Analysis</a:t>
            </a:r>
            <a:endParaRPr lang="en-IN" sz="3200" dirty="0"/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824B8A32-9AB3-457E-82E1-C85D3203CE35}"/>
              </a:ext>
            </a:extLst>
          </p:cNvPr>
          <p:cNvSpPr txBox="1">
            <a:spLocks/>
          </p:cNvSpPr>
          <p:nvPr/>
        </p:nvSpPr>
        <p:spPr>
          <a:xfrm>
            <a:off x="6400800" y="2794001"/>
            <a:ext cx="3312160" cy="8614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1" kern="120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0DEFF0-8DEE-4B0B-9B30-675FE9E288A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7F04107-8754-E47D-3375-529E689711FA}"/>
              </a:ext>
            </a:extLst>
          </p:cNvPr>
          <p:cNvSpPr txBox="1"/>
          <p:nvPr/>
        </p:nvSpPr>
        <p:spPr>
          <a:xfrm>
            <a:off x="1230900" y="5978549"/>
            <a:ext cx="60233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AICTE STU ID : STU6a6c2a0b419001785473547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6F2C8D2-70B5-61DA-F2CA-43CE4D60FAB6}"/>
              </a:ext>
            </a:extLst>
          </p:cNvPr>
          <p:cNvSpPr txBox="1"/>
          <p:nvPr/>
        </p:nvSpPr>
        <p:spPr>
          <a:xfrm>
            <a:off x="965200" y="3870960"/>
            <a:ext cx="702468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Student Name- Saisha Yogesh Patil </a:t>
            </a:r>
          </a:p>
          <a:p>
            <a:r>
              <a:rPr lang="en-US" sz="2000" dirty="0"/>
              <a:t>College Name – Sanjivani College Of </a:t>
            </a:r>
            <a:r>
              <a:rPr lang="en-US" sz="2000" dirty="0" err="1"/>
              <a:t>Engineering,Kopargaon</a:t>
            </a:r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1604013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46E4DD1-270B-4C80-AFF0-EB26F132AF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67360" y="1340528"/>
            <a:ext cx="9418320" cy="5131392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Agricultural performance changes with seasonal variations, environmental conditions, farming practices, resource availability and market conditions.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Raw agricultural data does not clearly show how agricultural performance differs between seasons.</a:t>
            </a:r>
          </a:p>
          <a:p>
            <a:pPr>
              <a:lnSpc>
                <a:spcPct val="150000"/>
              </a:lnSpc>
            </a:pPr>
            <a:endParaRPr lang="en-US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project aims to: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Analyze agricultural performance across seasons.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Identify important seasonal patterns and trends.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Compare yield, production and profit across seasons.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77CC02B-F7C6-47A8-8C3E-C57C417D9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4602" y="550417"/>
            <a:ext cx="6995604" cy="790111"/>
          </a:xfrm>
        </p:spPr>
        <p:txBody>
          <a:bodyPr>
            <a:normAutofit fontScale="90000"/>
          </a:bodyPr>
          <a:lstStyle/>
          <a:p>
            <a:r>
              <a:rPr lang="en-US" dirty="0"/>
              <a:t>PROBLEM  STATEMENT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FE02DE-D7B2-433D-BFE4-2F564022A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5684" y="2930834"/>
            <a:ext cx="2760758" cy="32644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36DEFE3-051A-494A-949C-BB2FF86F9E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548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BF2FBC7-3552-4F01-BB27-8BEEE74F7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805213"/>
            <a:ext cx="9255761" cy="5859747"/>
          </a:xfrm>
        </p:spPr>
        <p:txBody>
          <a:bodyPr>
            <a:normAutofit/>
          </a:bodyPr>
          <a:lstStyle/>
          <a:p>
            <a:r>
              <a:rPr lang="en-GB" dirty="0"/>
              <a:t>Project Description</a:t>
            </a:r>
            <a:br>
              <a:rPr lang="en-GB" dirty="0"/>
            </a:br>
            <a:r>
              <a:rPr lang="en-US" sz="1800" b="0" dirty="0"/>
              <a:t>The Seasonal Agriculture Performance Analysis project analyzes agricultural data collected across different seasons, states, crops and farming conditions.</a:t>
            </a:r>
            <a:br>
              <a:rPr lang="en-US" sz="1800" b="0" dirty="0"/>
            </a:br>
            <a:br>
              <a:rPr lang="en-US" sz="1800" b="0" dirty="0"/>
            </a:br>
            <a:r>
              <a:rPr lang="en-US" sz="1800" dirty="0"/>
              <a:t>The dataset includes:</a:t>
            </a:r>
            <a:br>
              <a:rPr lang="en-US" sz="1800" b="0" dirty="0"/>
            </a:br>
            <a:r>
              <a:rPr lang="en-US" sz="1800" b="0" dirty="0"/>
              <a:t>Crop and season information</a:t>
            </a:r>
            <a:br>
              <a:rPr lang="en-US" sz="1800" b="0" dirty="0"/>
            </a:br>
            <a:r>
              <a:rPr lang="en-US" sz="1800" b="0" dirty="0"/>
              <a:t>Farm area</a:t>
            </a:r>
            <a:br>
              <a:rPr lang="en-US" sz="1800" b="0" dirty="0"/>
            </a:br>
            <a:r>
              <a:rPr lang="en-US" sz="1800" b="0" dirty="0"/>
              <a:t>Rainfall and temperature</a:t>
            </a:r>
            <a:br>
              <a:rPr lang="en-US" sz="1800" b="0" dirty="0"/>
            </a:br>
            <a:r>
              <a:rPr lang="en-US" sz="1800" b="0" dirty="0"/>
              <a:t>Humidity and sunlight</a:t>
            </a:r>
            <a:br>
              <a:rPr lang="en-US" sz="1800" b="0" dirty="0"/>
            </a:br>
            <a:r>
              <a:rPr lang="en-US" sz="1800" b="0" dirty="0"/>
              <a:t>Soil conditions</a:t>
            </a:r>
            <a:br>
              <a:rPr lang="en-US" sz="1800" b="0" dirty="0"/>
            </a:br>
            <a:r>
              <a:rPr lang="en-US" sz="1800" b="0" dirty="0"/>
              <a:t>Fertilizer and pesticide usage</a:t>
            </a:r>
            <a:br>
              <a:rPr lang="en-US" sz="1800" b="0" dirty="0"/>
            </a:br>
            <a:r>
              <a:rPr lang="en-US" sz="1800" b="0" dirty="0"/>
              <a:t>Irrigation methods</a:t>
            </a:r>
            <a:br>
              <a:rPr lang="en-US" sz="1800" b="0" dirty="0"/>
            </a:br>
            <a:br>
              <a:rPr lang="en-US" sz="1800" b="0" dirty="0"/>
            </a:br>
            <a:r>
              <a:rPr lang="en-US" sz="1800" dirty="0"/>
              <a:t>Analysis Process</a:t>
            </a:r>
            <a:br>
              <a:rPr lang="en-US" sz="1800" b="0" dirty="0"/>
            </a:br>
            <a:r>
              <a:rPr lang="en-US" sz="1800" b="0" dirty="0"/>
              <a:t>Data Collection → Data Cleaning → Exploratory Data Analysis → Statistical Analysis → Visualization → Insights → Recommendations</a:t>
            </a:r>
            <a:br>
              <a:rPr lang="en-US" sz="1800" b="0" dirty="0"/>
            </a:br>
            <a:r>
              <a:rPr lang="en-US" sz="1800" b="0" dirty="0"/>
              <a:t>The project objective is to identify meaningful patterns, relationships and differences in agricultural performance.</a:t>
            </a:r>
            <a:endParaRPr lang="en-IN" sz="1800" b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D8A2BA-6C1D-4A33-85F2-E44A4FF54A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BED3D6A-DC10-4985-B01B-735F2CBA6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6770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64E3B60-2780-459A-8583-F095D5E746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21359" y="1432560"/>
            <a:ext cx="9387841" cy="5679440"/>
          </a:xfrm>
        </p:spPr>
        <p:txBody>
          <a:bodyPr>
            <a:noAutofit/>
          </a:bodyPr>
          <a:lstStyle/>
          <a:p>
            <a:pPr algn="just">
              <a:lnSpc>
                <a:spcPct val="150000"/>
              </a:lnSpc>
            </a:pPr>
            <a:r>
              <a:rPr lang="en-US" b="1" dirty="0"/>
              <a:t>Farmers</a:t>
            </a:r>
            <a:r>
              <a:rPr lang="en-US" dirty="0"/>
              <a:t> – to understand seasonal performance and improve farming decisions.</a:t>
            </a:r>
          </a:p>
          <a:p>
            <a:pPr algn="just">
              <a:lnSpc>
                <a:spcPct val="150000"/>
              </a:lnSpc>
            </a:pPr>
            <a:r>
              <a:rPr lang="en-US" b="1" dirty="0"/>
              <a:t>Agricultural Planners </a:t>
            </a:r>
            <a:r>
              <a:rPr lang="en-US" dirty="0"/>
              <a:t>– to support seasonal agricultural planning.</a:t>
            </a:r>
          </a:p>
          <a:p>
            <a:pPr algn="just">
              <a:lnSpc>
                <a:spcPct val="150000"/>
              </a:lnSpc>
            </a:pPr>
            <a:r>
              <a:rPr lang="en-US" b="1" dirty="0"/>
              <a:t>Agricultural Researchers </a:t>
            </a:r>
            <a:r>
              <a:rPr lang="en-US" dirty="0"/>
              <a:t>– to identify trends and relationships in agricultural data.</a:t>
            </a:r>
          </a:p>
          <a:p>
            <a:pPr algn="just">
              <a:lnSpc>
                <a:spcPct val="150000"/>
              </a:lnSpc>
            </a:pPr>
            <a:r>
              <a:rPr lang="en-US" b="1" dirty="0"/>
              <a:t>Government and Agricultural Departments </a:t>
            </a:r>
            <a:r>
              <a:rPr lang="en-US" dirty="0"/>
              <a:t>– to support evidence-based planning.</a:t>
            </a:r>
          </a:p>
          <a:p>
            <a:pPr algn="just">
              <a:lnSpc>
                <a:spcPct val="150000"/>
              </a:lnSpc>
            </a:pPr>
            <a:r>
              <a:rPr lang="en-US" b="1" dirty="0"/>
              <a:t>Agribusinesses</a:t>
            </a:r>
            <a:r>
              <a:rPr lang="en-US" dirty="0"/>
              <a:t> – to understand crop production and economic performance.</a:t>
            </a:r>
          </a:p>
          <a:p>
            <a:pPr algn="just">
              <a:lnSpc>
                <a:spcPct val="150000"/>
              </a:lnSpc>
            </a:pPr>
            <a:r>
              <a:rPr lang="en-US" b="1" dirty="0"/>
              <a:t>Data Analysts </a:t>
            </a:r>
            <a:r>
              <a:rPr lang="en-US" dirty="0"/>
              <a:t>– to study agricultural trends and patterns.</a:t>
            </a:r>
            <a:endParaRPr lang="en-IN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A4A072B-83C6-4607-AE6A-5AD61CC72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008" y="876617"/>
            <a:ext cx="10046070" cy="802641"/>
          </a:xfrm>
        </p:spPr>
        <p:txBody>
          <a:bodyPr>
            <a:normAutofit/>
          </a:bodyPr>
          <a:lstStyle/>
          <a:p>
            <a:r>
              <a:rPr lang="en-US" sz="3200" dirty="0"/>
              <a:t>WHO ARE THE END USERS?</a:t>
            </a:r>
            <a:endParaRPr lang="en-IN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8B153BB-61B9-403F-8AE5-F75400450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359" y="6176804"/>
            <a:ext cx="2181225" cy="48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075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B7C27C4-3E14-490A-B132-CBBEDA1E9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1FC3E39-8C60-4F64-9838-2A683F25B8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50800" y="3820160"/>
            <a:ext cx="1727200" cy="3010024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21C28F5-3CA3-4B78-B5C9-550C00BB31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90618" y="1188720"/>
            <a:ext cx="9027702" cy="5487288"/>
          </a:xfrm>
        </p:spPr>
        <p:txBody>
          <a:bodyPr>
            <a:normAutofit fontScale="92500" lnSpcReduction="20000"/>
          </a:bodyPr>
          <a:lstStyle/>
          <a:p>
            <a:pPr lvl="1">
              <a:lnSpc>
                <a:spcPct val="150000"/>
              </a:lnSpc>
            </a:pPr>
            <a:r>
              <a:rPr lang="en-IN" b="1" dirty="0"/>
              <a:t>Programming &amp; Analysis</a:t>
            </a:r>
          </a:p>
          <a:p>
            <a:pPr lvl="1">
              <a:lnSpc>
                <a:spcPct val="120000"/>
              </a:lnSpc>
            </a:pPr>
            <a:r>
              <a:rPr lang="en-IN" dirty="0"/>
              <a:t>Python</a:t>
            </a:r>
          </a:p>
          <a:p>
            <a:pPr lvl="1">
              <a:lnSpc>
                <a:spcPct val="120000"/>
              </a:lnSpc>
            </a:pPr>
            <a:r>
              <a:rPr lang="en-IN" dirty="0"/>
              <a:t>Pandas</a:t>
            </a:r>
          </a:p>
          <a:p>
            <a:pPr lvl="1">
              <a:lnSpc>
                <a:spcPct val="120000"/>
              </a:lnSpc>
            </a:pPr>
            <a:r>
              <a:rPr lang="en-IN" dirty="0"/>
              <a:t>NumPy</a:t>
            </a:r>
          </a:p>
          <a:p>
            <a:pPr lvl="1">
              <a:lnSpc>
                <a:spcPct val="150000"/>
              </a:lnSpc>
            </a:pPr>
            <a:r>
              <a:rPr lang="en-IN" b="1" dirty="0"/>
              <a:t>Data Visualization</a:t>
            </a:r>
          </a:p>
          <a:p>
            <a:pPr lvl="1">
              <a:lnSpc>
                <a:spcPct val="150000"/>
              </a:lnSpc>
            </a:pPr>
            <a:r>
              <a:rPr lang="en-IN" dirty="0"/>
              <a:t>Matplotlib</a:t>
            </a:r>
          </a:p>
          <a:p>
            <a:pPr lvl="1">
              <a:lnSpc>
                <a:spcPct val="150000"/>
              </a:lnSpc>
            </a:pPr>
            <a:r>
              <a:rPr lang="en-IN" dirty="0"/>
              <a:t>Seaborn</a:t>
            </a:r>
          </a:p>
          <a:p>
            <a:pPr lvl="1">
              <a:lnSpc>
                <a:spcPct val="150000"/>
              </a:lnSpc>
            </a:pPr>
            <a:r>
              <a:rPr lang="en-IN" b="1" dirty="0"/>
              <a:t>Development Environment</a:t>
            </a:r>
          </a:p>
          <a:p>
            <a:pPr lvl="1">
              <a:lnSpc>
                <a:spcPct val="150000"/>
              </a:lnSpc>
            </a:pPr>
            <a:r>
              <a:rPr lang="en-IN" dirty="0"/>
              <a:t>Jupyter Notebook</a:t>
            </a:r>
          </a:p>
          <a:p>
            <a:pPr lvl="1">
              <a:lnSpc>
                <a:spcPct val="150000"/>
              </a:lnSpc>
            </a:pPr>
            <a:r>
              <a:rPr lang="en-IN" b="1" dirty="0"/>
              <a:t>Data Source</a:t>
            </a:r>
          </a:p>
          <a:p>
            <a:pPr lvl="1">
              <a:lnSpc>
                <a:spcPct val="150000"/>
              </a:lnSpc>
            </a:pPr>
            <a:r>
              <a:rPr lang="en-IN" dirty="0"/>
              <a:t>Seasonal Agriculture Performance Dataset</a:t>
            </a:r>
          </a:p>
          <a:p>
            <a:pPr lvl="1">
              <a:lnSpc>
                <a:spcPct val="150000"/>
              </a:lnSpc>
            </a:pPr>
            <a:endParaRPr lang="en-IN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FEF304F5-32C5-4869-B185-859B56785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430567"/>
            <a:ext cx="5306291" cy="847817"/>
          </a:xfrm>
        </p:spPr>
        <p:txBody>
          <a:bodyPr>
            <a:normAutofit/>
          </a:bodyPr>
          <a:lstStyle/>
          <a:p>
            <a:r>
              <a:rPr lang="en-US" dirty="0"/>
              <a:t>Technology Used</a:t>
            </a:r>
          </a:p>
        </p:txBody>
      </p:sp>
    </p:spTree>
    <p:extLst>
      <p:ext uri="{BB962C8B-B14F-4D97-AF65-F5344CB8AC3E}">
        <p14:creationId xmlns:p14="http://schemas.microsoft.com/office/powerpoint/2010/main" val="1341901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10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10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1000" fill="hold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1000" fill="hold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1000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1000" fill="hold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1000" fill="hold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BB0C869-7C5C-4070-BD4D-F3FC2DA8F3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AFE3A2AF-177E-45E6-A191-0F8523DB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372426BE-BEE7-4A6D-BCD2-059615BBCE25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E61E227A-5883-4C77-B25A-46A22FFDF41F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B19D8AC7-3787-4ADB-9212-0808F015C2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/>
              <a:t>[Add screen shots of your code ]</a:t>
            </a:r>
            <a:endParaRPr lang="en-IN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BAD03CB-1417-2F90-A178-2269C7DB2D3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083" r="9084" b="8592"/>
          <a:stretch>
            <a:fillRect/>
          </a:stretch>
        </p:blipFill>
        <p:spPr>
          <a:xfrm>
            <a:off x="543004" y="1279098"/>
            <a:ext cx="10561876" cy="5385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6225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AAE43-B138-25CD-D01F-41DB38855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FCF24DA-3CDC-4D87-9335-AB913C783F7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6D5AF756-BADB-9E87-14AC-F87A8C7463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4716F3BA-AE41-9B35-3BCA-353F205375D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0E149068-B429-662F-714A-0DD8CE171A51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3A64DB11-806F-1A4C-E0D5-D745D29CED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[Add screen shots of your code ]</a:t>
            </a:r>
            <a:endParaRPr lang="en-IN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ACA038B-EF45-6490-74B5-66BAB190D58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334" r="9750" b="12296"/>
          <a:stretch>
            <a:fillRect/>
          </a:stretch>
        </p:blipFill>
        <p:spPr>
          <a:xfrm>
            <a:off x="675956" y="1201586"/>
            <a:ext cx="10327323" cy="5463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9627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9E943-C59C-1D86-29CA-F786C47BA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EC6E6C7-69F2-D361-F3CC-FC5268D9BC8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FCD5524-F764-DC63-6F54-D48057CF17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4B1E3463-DEAD-53DD-2AC0-E8A458421D0B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B713140B-3822-90E0-F216-B77A695B86B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B6E3B1C7-6A8B-23EE-6251-DC1067C6ADE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[Add screen shots of your code ]</a:t>
            </a:r>
            <a:endParaRPr lang="en-IN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C27E7BD-44B0-0904-E6CF-3A45A41F8C2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148" b="8465"/>
          <a:stretch>
            <a:fillRect/>
          </a:stretch>
        </p:blipFill>
        <p:spPr>
          <a:xfrm>
            <a:off x="518160" y="1275371"/>
            <a:ext cx="10485120" cy="5212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8901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5AC1B-54F8-474D-6B86-CF23FDF34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9D7CE81-8696-30A4-F33E-B4B569D3502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15FD49EE-0956-AAE3-737B-15F7D4267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D224F8B1-34DD-5A54-7F70-25EBA532E6E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25A36120-3EFF-6A69-8D23-42BFD883ADDA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2B7B89A1-9444-8322-CADC-42D31D698F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[Add screen shots of your code ]</a:t>
            </a:r>
            <a:endParaRPr lang="en-IN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4941E33-A8BB-A63E-4729-5B0DA398280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417" t="5404" b="7408"/>
          <a:stretch>
            <a:fillRect/>
          </a:stretch>
        </p:blipFill>
        <p:spPr>
          <a:xfrm>
            <a:off x="513080" y="1081789"/>
            <a:ext cx="10662920" cy="5583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3979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30C45-6A74-29AD-A5C0-D5F36592D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E7611FF-D6E5-400F-ED75-6F5531CFA95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9E35150-35BD-1B1F-9A8C-890DBFDF3B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5A2A9BCE-A757-223C-2A3D-44341FB27A6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1EED58A7-2CD5-1355-8D1D-DD62A1ED8CB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F85C769B-425A-FE3B-E47A-3B747985DC5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[Add screen shots of your code ]</a:t>
            </a:r>
            <a:endParaRPr lang="en-IN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D7F1CC6-6C09-72F0-691E-9D892074CD5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620" t="4296" r="2633" b="7259"/>
          <a:stretch>
            <a:fillRect/>
          </a:stretch>
        </p:blipFill>
        <p:spPr>
          <a:xfrm>
            <a:off x="485547" y="1201586"/>
            <a:ext cx="10070693" cy="5392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522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C66555C-9EDF-845D-2383-7A2C09A40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37717A-3539-5157-C96B-2E338A472E70}"/>
              </a:ext>
            </a:extLst>
          </p:cNvPr>
          <p:cNvSpPr txBox="1"/>
          <p:nvPr/>
        </p:nvSpPr>
        <p:spPr>
          <a:xfrm>
            <a:off x="1300480" y="558800"/>
            <a:ext cx="26268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/>
              <a:t>RESULTS</a:t>
            </a:r>
            <a:endParaRPr lang="en-IN" sz="48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D4874F3-B1FE-E413-8D29-BA8CB376B9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083" b="8148"/>
          <a:stretch>
            <a:fillRect/>
          </a:stretch>
        </p:blipFill>
        <p:spPr>
          <a:xfrm>
            <a:off x="619760" y="1249680"/>
            <a:ext cx="10160000" cy="5293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80988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E94ED-1743-306E-1CA1-9410A2B50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4506C61-5206-F1DF-9994-DED24DFB1C6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B097C2C-D75A-31D4-CD9F-366F39CDE5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6" y="370589"/>
            <a:ext cx="9250363" cy="6213091"/>
          </a:xfrm>
        </p:spPr>
        <p:txBody>
          <a:bodyPr>
            <a:normAutofit/>
          </a:bodyPr>
          <a:lstStyle/>
          <a:p>
            <a:r>
              <a:rPr lang="en-IN" sz="4000" dirty="0"/>
              <a:t>Future scope</a:t>
            </a:r>
            <a:br>
              <a:rPr lang="en-IN" sz="4000" dirty="0"/>
            </a:br>
            <a:br>
              <a:rPr lang="en-IN" sz="4000" dirty="0"/>
            </a:br>
            <a:r>
              <a:rPr lang="en-US" sz="2000" dirty="0"/>
              <a:t>The project can be extended by:</a:t>
            </a:r>
            <a:br>
              <a:rPr lang="en-US" sz="2000" dirty="0"/>
            </a:br>
            <a:br>
              <a:rPr lang="en-US" sz="2000" b="0" dirty="0"/>
            </a:br>
            <a:r>
              <a:rPr lang="en-US" sz="2000" b="0" dirty="0"/>
              <a:t>1) Developing a seasonal crop recommendation system.</a:t>
            </a:r>
            <a:br>
              <a:rPr lang="en-US" sz="2000" b="0" dirty="0"/>
            </a:br>
            <a:r>
              <a:rPr lang="en-US" sz="2000" b="0" dirty="0"/>
              <a:t>2) Using machine learning to predict crop yield</a:t>
            </a:r>
            <a:br>
              <a:rPr lang="en-US" sz="2000" b="0" dirty="0"/>
            </a:br>
            <a:r>
              <a:rPr lang="en-US" sz="2000" b="0" dirty="0"/>
              <a:t>3) Predicting future agricultural profit.</a:t>
            </a:r>
            <a:br>
              <a:rPr lang="en-US" sz="2000" b="0" dirty="0"/>
            </a:br>
            <a:r>
              <a:rPr lang="en-US" sz="2000" b="0" dirty="0"/>
              <a:t>4) Adding historical weather data.</a:t>
            </a:r>
            <a:br>
              <a:rPr lang="en-US" sz="2000" b="0" dirty="0"/>
            </a:br>
            <a:r>
              <a:rPr lang="en-US" sz="2000" b="0" dirty="0"/>
              <a:t>5) Developing a real-time agricultural dashboard.</a:t>
            </a:r>
            <a:br>
              <a:rPr lang="en-US" sz="2000" b="0" dirty="0"/>
            </a:br>
            <a:r>
              <a:rPr lang="en-US" sz="2000" b="0" dirty="0"/>
              <a:t>6) Incorporating soil and weather forecasts.</a:t>
            </a:r>
            <a:br>
              <a:rPr lang="en-US" sz="2000" b="0" dirty="0"/>
            </a:br>
            <a:r>
              <a:rPr lang="en-US" sz="2000" b="0" dirty="0"/>
              <a:t>7) Studying more regions and crop varieties.</a:t>
            </a:r>
            <a:br>
              <a:rPr lang="en-US" sz="2000" b="0" dirty="0"/>
            </a:br>
            <a:r>
              <a:rPr lang="en-US" sz="2000" b="0" dirty="0"/>
              <a:t>8) Developing early-warning models for disease and pest risks.</a:t>
            </a:r>
            <a:br>
              <a:rPr lang="en-US" sz="2000" b="0" dirty="0"/>
            </a:br>
            <a:r>
              <a:rPr lang="en-US" sz="2000" b="0" dirty="0"/>
              <a:t>9) Supporting better water and resource management.</a:t>
            </a:r>
            <a:br>
              <a:rPr lang="en-US" sz="2000" b="0" dirty="0"/>
            </a:br>
            <a:br>
              <a:rPr lang="en-US" sz="2000" b="0" dirty="0"/>
            </a:br>
            <a:r>
              <a:rPr lang="en-US" sz="2000" b="0" dirty="0"/>
              <a:t>The project specification also expects evidence-based recommendations and identification of areas requiring further investigation.</a:t>
            </a:r>
            <a:endParaRPr lang="en-IN" sz="2000" b="0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B7444DDE-63A3-9721-77CC-C93FED110DAF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2C8A8B73-0C64-E012-F561-D7FE5E322230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776828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316CE-193E-3D5D-C15A-98517303A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D44118A-0276-9E2F-E0E8-85CEE9F1E0C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01A2257-2F98-CB88-038E-C0F1D0A1A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6" y="370589"/>
            <a:ext cx="7502843" cy="4811011"/>
          </a:xfrm>
        </p:spPr>
        <p:txBody>
          <a:bodyPr>
            <a:normAutofit/>
          </a:bodyPr>
          <a:lstStyle/>
          <a:p>
            <a:r>
              <a:rPr lang="en-IN" sz="4000" dirty="0"/>
              <a:t>GitHub Link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AF1C8809-654A-4DD1-BB18-87B8B6C020B9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0F7D0B46-DEEA-1B5E-FE84-59D11F3B110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160167-36E9-3D47-D2C9-DF697E077FA5}"/>
              </a:ext>
            </a:extLst>
          </p:cNvPr>
          <p:cNvSpPr txBox="1"/>
          <p:nvPr/>
        </p:nvSpPr>
        <p:spPr>
          <a:xfrm>
            <a:off x="1016000" y="2828836"/>
            <a:ext cx="813562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000" b="1"/>
              <a:t>https://github.com/patilsaisha1404-dot/AICTE_VOIS_Fortech_Internship</a:t>
            </a:r>
            <a:endParaRPr lang="en-IN" sz="2000" b="1" dirty="0"/>
          </a:p>
        </p:txBody>
      </p:sp>
    </p:spTree>
    <p:extLst>
      <p:ext uri="{BB962C8B-B14F-4D97-AF65-F5344CB8AC3E}">
        <p14:creationId xmlns:p14="http://schemas.microsoft.com/office/powerpoint/2010/main" val="3863610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66297-EA5A-44FA-6968-26D32B9B1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B12FC48-BC6E-8635-A49E-73EF17CEDC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42B692F6-18B4-BC16-EA0C-48FFBD562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8351388" cy="884658"/>
          </a:xfrm>
        </p:spPr>
        <p:txBody>
          <a:bodyPr>
            <a:normAutofit fontScale="90000"/>
          </a:bodyPr>
          <a:lstStyle/>
          <a:p>
            <a:r>
              <a:rPr lang="en-IN" sz="3200" dirty="0"/>
              <a:t>VOIS Course completion certificate - </a:t>
            </a:r>
            <a:br>
              <a:rPr lang="en-IN" sz="3200" dirty="0"/>
            </a:br>
            <a:r>
              <a:rPr lang="en-IN" sz="3200" dirty="0"/>
              <a:t>Course name- Data Visualization 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069BD300-7A70-B076-3B4C-43081E893162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8C1854F2-9914-C22F-FF0B-693CD1D0F966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ED8728D-0FE0-7CAC-0228-EE72A53E49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56079"/>
            <a:ext cx="8788400" cy="5008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802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88C20CF-C1EE-4092-B52D-FD4AB2AB2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647699"/>
            <a:ext cx="11340000" cy="3768791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/>
            <a:r>
              <a:rPr lang="en-US" sz="4800" b="1" dirty="0">
                <a:solidFill>
                  <a:schemeClr val="tx1"/>
                </a:solidFill>
              </a:rPr>
              <a:t>Thank you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97AB1F14-3A1E-4057-A473-9975BA59F01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27865" y="4641925"/>
            <a:ext cx="2139695" cy="1108635"/>
          </a:xfrm>
        </p:spPr>
        <p:txBody>
          <a:bodyPr>
            <a:normAutofit/>
          </a:bodyPr>
          <a:lstStyle/>
          <a:p>
            <a:r>
              <a:rPr lang="en-US" dirty="0"/>
              <a:t>.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E212CE24-374D-44D0-8F39-0F5A36E42ED7}"/>
              </a:ext>
            </a:extLst>
          </p:cNvPr>
          <p:cNvSpPr txBox="1">
            <a:spLocks/>
          </p:cNvSpPr>
          <p:nvPr/>
        </p:nvSpPr>
        <p:spPr>
          <a:xfrm>
            <a:off x="878337" y="4134780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400" dirty="0"/>
          </a:p>
        </p:txBody>
      </p:sp>
      <p:sp>
        <p:nvSpPr>
          <p:cNvPr id="20" name="Text Placeholder 28">
            <a:extLst>
              <a:ext uri="{FF2B5EF4-FFF2-40B4-BE49-F238E27FC236}">
                <a16:creationId xmlns:a16="http://schemas.microsoft.com/office/drawing/2014/main" id="{A09A5BC1-0E62-4E6B-A590-951A87D4B4FE}"/>
              </a:ext>
            </a:extLst>
          </p:cNvPr>
          <p:cNvSpPr txBox="1">
            <a:spLocks/>
          </p:cNvSpPr>
          <p:nvPr/>
        </p:nvSpPr>
        <p:spPr>
          <a:xfrm>
            <a:off x="5353508" y="3962573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23" name="Text Placeholder 28">
            <a:extLst>
              <a:ext uri="{FF2B5EF4-FFF2-40B4-BE49-F238E27FC236}">
                <a16:creationId xmlns:a16="http://schemas.microsoft.com/office/drawing/2014/main" id="{9E6B148F-F3B6-4E6B-9B85-645C039858E8}"/>
              </a:ext>
            </a:extLst>
          </p:cNvPr>
          <p:cNvSpPr txBox="1">
            <a:spLocks/>
          </p:cNvSpPr>
          <p:nvPr/>
        </p:nvSpPr>
        <p:spPr>
          <a:xfrm>
            <a:off x="7789163" y="3962572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D3BF02F6-2753-476A-8046-A85AE3A49748}"/>
              </a:ext>
            </a:extLst>
          </p:cNvPr>
          <p:cNvSpPr txBox="1">
            <a:spLocks/>
          </p:cNvSpPr>
          <p:nvPr/>
        </p:nvSpPr>
        <p:spPr>
          <a:xfrm>
            <a:off x="6096000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32" name="Text Placeholder 30">
            <a:extLst>
              <a:ext uri="{FF2B5EF4-FFF2-40B4-BE49-F238E27FC236}">
                <a16:creationId xmlns:a16="http://schemas.microsoft.com/office/drawing/2014/main" id="{B993AB29-3A3A-4473-8AC8-86E859C97321}"/>
              </a:ext>
            </a:extLst>
          </p:cNvPr>
          <p:cNvSpPr txBox="1">
            <a:spLocks/>
          </p:cNvSpPr>
          <p:nvPr/>
        </p:nvSpPr>
        <p:spPr>
          <a:xfrm>
            <a:off x="8591363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D3F9E86-2FB3-4DB3-9343-59D594F350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748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4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1" grpId="0" build="p"/>
      <p:bldP spid="17" grpId="0"/>
      <p:bldP spid="20" grpId="0"/>
      <p:bldP spid="23" grpId="0"/>
      <p:bldP spid="30" grpId="0"/>
      <p:bldP spid="32" grpId="0"/>
    </p:bldLst>
  </p:timing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DEA9014-ED64-4558-B1E1-D03F0EE32BEB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B19EB750-A6DA-4BE8-B87B-FC499FE733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5D99ABA-76CE-4A8E-B5F0-C051B96628D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620</TotalTime>
  <Words>469</Words>
  <Application>Microsoft Office PowerPoint</Application>
  <PresentationFormat>Widescreen</PresentationFormat>
  <Paragraphs>52</Paragraphs>
  <Slides>15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Arial</vt:lpstr>
      <vt:lpstr>Calibri</vt:lpstr>
      <vt:lpstr>Times New Roman</vt:lpstr>
      <vt:lpstr>Trebuchet MS</vt:lpstr>
      <vt:lpstr>Wingdings</vt:lpstr>
      <vt:lpstr>Wingdings 3</vt:lpstr>
      <vt:lpstr>Facet</vt:lpstr>
      <vt:lpstr>Project Title – Seasonal Agriculture Performance Analysis</vt:lpstr>
      <vt:lpstr>PROBLEM  STATEMENT</vt:lpstr>
      <vt:lpstr>Project Description The Seasonal Agriculture Performance Analysis project analyzes agricultural data collected across different seasons, states, crops and farming conditions.  The dataset includes: Crop and season information Farm area Rainfall and temperature Humidity and sunlight Soil conditions Fertilizer and pesticide usage Irrigation methods  Analysis Process Data Collection → Data Cleaning → Exploratory Data Analysis → Statistical Analysis → Visualization → Insights → Recommendations The project objective is to identify meaningful patterns, relationships and differences in agricultural performance.</vt:lpstr>
      <vt:lpstr>WHO ARE THE END USERS?</vt:lpstr>
      <vt:lpstr>Technology Used</vt:lpstr>
      <vt:lpstr>RESULTS </vt:lpstr>
      <vt:lpstr>RESULTS </vt:lpstr>
      <vt:lpstr>RESULTS </vt:lpstr>
      <vt:lpstr>RESULTS </vt:lpstr>
      <vt:lpstr>RESULTS </vt:lpstr>
      <vt:lpstr>PowerPoint Presentation</vt:lpstr>
      <vt:lpstr>Future scope  The project can be extended by:  1) Developing a seasonal crop recommendation system. 2) Using machine learning to predict crop yield 3) Predicting future agricultural profit. 4) Adding historical weather data. 5) Developing a real-time agricultural dashboard. 6) Incorporating soil and weather forecasts. 7) Studying more regions and crop varieties. 8) Developing early-warning models for disease and pest risks. 9) Supporting better water and resource management.  The project specification also expects evidence-based recommendations and identification of areas requiring further investigation.</vt:lpstr>
      <vt:lpstr>GitHub Link</vt:lpstr>
      <vt:lpstr>VOIS Course completion certificate -  Course name- Data Visualization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MASKED HUNTERS</dc:title>
  <dc:creator>Venkataswamy</dc:creator>
  <cp:lastModifiedBy>Saisha Patil</cp:lastModifiedBy>
  <cp:revision>98</cp:revision>
  <dcterms:created xsi:type="dcterms:W3CDTF">2021-07-11T13:13:15Z</dcterms:created>
  <dcterms:modified xsi:type="dcterms:W3CDTF">2026-09-11T11:05:23Z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